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displayed latency begins when VAD has finalized the waveform. The previous endpoint-delay result was removed because the runner appended synthetic zero-valued silence, which does not represent a naturally noisy robot environment. The equation uses non-overlapping post-VAD stage durations; cumulative milestone columns should not be summed. Audio-to-last-audio is intentionally omitted.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aggregate tool-call view requested for a single overall distribution across every tested audio length. Each cell reads P50, P90, and maximum from left to right. The 50% MPS active-thread cap remains close to full-thread execution, while 30% materially increases generation and completion latency. These are project measurements from the controlled tool-call corpus; the detailed per-length slides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the controlled tool-call path on the direct full-GPU baseline with MPS disabled. Audio length remains visible rather than being aggregated away. The aggregate decode rate is MPS disabled · 114.9 tokens per second. Longer input audio does not automatically increase TTFT; the structured output length controls most of the first-to-last-token gap. Audio-to-last-audio is omitted because it is derived from response WAV duration rather than acoustic loopback.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the controlled tool-call path at a 70% CUDA MPS active-thread cap. Audio length remains visible rather than being aggregated away. The aggregate decode rate is 108.6 tokens per second. Longer input audio does not automatically increase TTFT; the structured output length controls most of the first-to-last-token gap. Audio-to-last-audio is omitted because it is derived from response WAV duration rather than acoustic loopback.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the controlled tool-call path at a 50% CUDA MPS active-thread cap. Audio length remains visible rather than being aggregated away. The aggregate decode rate is 632 ms from VAD-ready audio to first cached audio · +64 ms vs 100% tokens per second. Longer input audio does not automatically increase TTFT; the structured output length controls most of the first-to-last-token gap. Audio-to-last-audio is omitted because it is derived from response WAV duration rather than acoustic loopback.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the controlled tool-call path at a 30% CUDA MPS active-thread cap. Audio length remains visible rather than being aggregated away. The aggregate decode rate is 54.8 tokens per second. Longer input audio does not automatically increase TTFT; the structured output length controls most of the first-to-last-token gap. Audio-to-last-audio is omitted because it is derived from response WAV duration rather than acoustic loopback.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aggregate non-tool view across every available valid cloud-path run. Each cell reads P50, P90, and maximum from left to right. The local SLM decision remains much faster than the complete dynamic response path; Gemini, Wi-Fi, and laptop OmniVoice dominate the time to first audio. Do not rank MPS caps using the cloud columns: p50 has fewer repetitions, and external latency is uncontrolled. The 30% condition now covers all five audio lengths but still has only two repetitions per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the non-tool path on the direct full-GPU baseline with MPS disabled. The local SLM timings can be compared across local scheduling conditions, but Gemini, Wi-Fi, and laptop OmniVoice timings cannot be controlled by them. Gemini returned a complete non-streamed response, so the cloud milestone is response completion rather than a separately observed last token. P90 is linearly interpolated; the 30% non-tool P90 has only two runs and is descriptive, not a stable tail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the non-tool path at a 70% CUDA MPS active-thread cap. The local SLM timings can be compared across local scheduling conditions, but Gemini, Wi-Fi, and laptop OmniVoice timings cannot be controlled by them. Gemini returned a complete non-streamed response, so the cloud milestone is response completion rather than a separately observed last token. P90 is linearly interpolated; the 30% non-tool P90 has only two runs and is descriptive, not a stable tail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the non-tool path at a 50% CUDA MPS active-thread cap. The local SLM timings can be compared across local scheduling conditions, but Gemini, Wi-Fi, and laptop OmniVoice timings cannot be controlled by them. Gemini returned a complete non-streamed response, so the cloud milestone is response completion rather than a separately observed last token. P90 is linearly interpolated; the 30% non-tool P90 has only two runs and is descriptive, not a stable tail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the non-tool path at a 30% CUDA MPS active-thread cap. The local SLM timings can be compared across local scheduling conditions, but Gemini, Wi-Fi, and laptop OmniVoice timings cannot be controlled by them. Gemini returned a complete non-streamed response, so the cloud milestone is response completion rather than a separately observed last token. P90 is linearly interpolated; the 30% non-tool P90 has only two runs and is descriptive, not a stable tail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pipeline can be hosted in the cloud, including the speech-language model. Running the SLM on Jetson is therefore a deliberate product trade-off, not an architectural requirement. Edge placement can improve locality, offline behavior and the bounded tool-call path, but it requires additional compatibility, resource-sharing, thermal and fleet-management work. The benchmark establishes that the edge path is feasible; it does not claim edge placement is always preferable.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998F"/>
                </a:solidFill>
                <a:latin typeface="Noto Sans"/>
              </a:rPr>
              <a:t>HOW TO READ THE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2A36"/>
                </a:solidFill>
                <a:latin typeface="Noto Sans"/>
              </a:rPr>
              <a:t>The reported clock starts after VAD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7A"/>
                </a:solidFill>
                <a:latin typeface="Noto Sans"/>
              </a:rPr>
              <a:t>VAD endpointing is excluded because the test used synthetic clean trailing silence.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87970"/>
                </a:solidFill>
                <a:latin typeface="Noto Sans"/>
              </a:rPr>
              <a:t>Post-VAD time to first audio = SLM TTFT + SLM generation + [cloud LLM] + response preparation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2697480"/>
          <a:ext cx="10698479" cy="3154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14600"/>
                <a:gridCol w="8183879"/>
              </a:tblGrid>
              <a:tr h="525780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Sans"/>
                        </a:rPr>
                        <a:t>Stage duration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Sans"/>
                        </a:rPr>
                        <a:t>What it measures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525780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1">
                          <a:solidFill>
                            <a:srgbClr val="102A36"/>
                          </a:solidFill>
                          <a:latin typeface="Noto Sans"/>
                        </a:rPr>
                        <a:t>Reported statistics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102A36"/>
                          </a:solidFill>
                          <a:latin typeface="Noto Sans"/>
                        </a:rPr>
                        <a:t>Each result cell shows P50 / P90 / Max from left to right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525780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1">
                          <a:solidFill>
                            <a:srgbClr val="102A36"/>
                          </a:solidFill>
                          <a:latin typeface="Noto Sans"/>
                        </a:rPr>
                        <a:t>SLM TTFT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102A36"/>
                          </a:solidFill>
                          <a:latin typeface="Noto Sans"/>
                        </a:rPr>
                        <a:t>Finalized audio → first meaningful SLM token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525780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1">
                          <a:solidFill>
                            <a:srgbClr val="102A36"/>
                          </a:solidFill>
                          <a:latin typeface="Noto Sans"/>
                        </a:rPr>
                        <a:t>SLM generation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102A36"/>
                          </a:solidFill>
                          <a:latin typeface="Noto Sans"/>
                        </a:rPr>
                        <a:t>First → last SLM token; TPS = (output tokens − 1) / this duration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525780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1">
                          <a:solidFill>
                            <a:srgbClr val="102A36"/>
                          </a:solidFill>
                          <a:latin typeface="Noto Sans"/>
                        </a:rPr>
                        <a:t>Cloud LLM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102A36"/>
                          </a:solidFill>
                          <a:latin typeface="Noto Sans"/>
                        </a:rPr>
                        <a:t>Only for non_tool; SLM completion → complete Gemini response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525780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1">
                          <a:solidFill>
                            <a:srgbClr val="102A36"/>
                          </a:solidFill>
                          <a:latin typeface="Noto Sans"/>
                        </a:rPr>
                        <a:t>Response preparation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102A36"/>
                          </a:solidFill>
                          <a:latin typeface="Noto Sans"/>
                        </a:rPr>
                        <a:t>Cloud TTS or cached reply → first response-audio byte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" y="6016752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87970"/>
                </a:solidFill>
                <a:latin typeface="Noto Sans"/>
              </a:rPr>
              <a:t>“Audio → …” means VAD-ready audio → milestone. It does not include speaking time or VAD endpointing.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9224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7A"/>
                </a:solidFill>
                <a:latin typeface="Noto Sans"/>
              </a:rPr>
              <a:t>Measured on Jetson AGX Orin · 14 Aug 2026 · VAD endpoint latency excluded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4747A"/>
                </a:solidFill>
                <a:latin typeface="Noto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998F"/>
                </a:solidFill>
                <a:latin typeface="Noto Sans"/>
              </a:rPr>
              <a:t>TOOL-CALL SUMMARY · ALL AUDIO LENGTHS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2A36"/>
                </a:solidFill>
                <a:latin typeface="Noto Sans"/>
              </a:rPr>
              <a:t>50% MPS keeps tool calls interactive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7A"/>
                </a:solidFill>
                <a:latin typeface="Noto Sans"/>
              </a:rPr>
              <a:t>64 measured turns per scheduling condition · every result cell is P50 / P90 / Max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993392"/>
          <a:ext cx="10872216" cy="312724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05840"/>
                <a:gridCol w="1965960"/>
                <a:gridCol w="1965960"/>
                <a:gridCol w="1508760"/>
                <a:gridCol w="2011680"/>
                <a:gridCol w="2414016"/>
              </a:tblGrid>
              <a:tr h="625449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Noto Sans"/>
                        </a:rPr>
                        <a:t>GPU scheduling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Noto Sans"/>
                        </a:rPr>
                        <a:t>condition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Noto Sans"/>
                        </a:rPr>
                        <a:t>Audio → 1st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Noto Sans"/>
                        </a:rPr>
                        <a:t>1st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Noto Sans"/>
                        </a:rPr>
                        <a:t>SLM TPS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Noto Sans"/>
                        </a:rPr>
                        <a:t>Audio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Noto Sans"/>
                        </a:rPr>
                        <a:t>Audio → 1st audio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25449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102A36"/>
                          </a:solidFill>
                          <a:latin typeface="Noto Sans"/>
                        </a:rPr>
                        <a:t>Full GPU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102A36"/>
                          </a:solidFill>
                          <a:latin typeface="Noto Sans"/>
                        </a:rPr>
                        <a:t>MPS off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202 / 211 / 236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332 / 563 / 564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114.9 / 146.5 / 146.7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534 / 748 / 750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568 / 782 / 784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25449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102A36"/>
                          </a:solidFill>
                          <a:latin typeface="Noto Sans"/>
                        </a:rPr>
                        <a:t>MPS 70%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209 / 224 / 243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351 / 596 / 596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108.6 / 138.2 / 138.5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561 / 792 / 794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596 / 827 / 828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25449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102A36"/>
                          </a:solidFill>
                          <a:latin typeface="Noto Sans"/>
                        </a:rPr>
                        <a:t>MPS 50%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219 / 234 / 254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376 / 638 / 639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101.5 / 129.3 / 129.4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595 / 841 / 843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632 / 879 / 880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25449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102A36"/>
                          </a:solidFill>
                          <a:latin typeface="Noto Sans"/>
                        </a:rPr>
                        <a:t>MPS 30%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358 / 381 / 409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696 / 1,178 / 1,179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54.8 / 69.8 / 69.9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1,054 / 1,489 / 1,491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02A36"/>
                          </a:solidFill>
                          <a:latin typeface="Noto Sans"/>
                        </a:rPr>
                        <a:t>1,116 / 1,551 / 1,553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394960"/>
            <a:ext cx="105156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20" b="1">
                <a:solidFill>
                  <a:srgbClr val="087970"/>
                </a:solidFill>
                <a:latin typeface="Noto Sans"/>
              </a:rPr>
              <a:t>At the 50% MPS cap, P50 is 219 ms to first SLM token, 595 ms to the completed tool call, and 632 ms to first cached audio.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9224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7A"/>
                </a:solidFill>
                <a:latin typeface="Noto Sans"/>
              </a:rPr>
              <a:t>All 8 audio lengths pooled · 64 warm measured turns per condition · VAD and last audio excluded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4747A"/>
                </a:solidFill>
                <a:latin typeface="Noto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998F"/>
                </a:solidFill>
                <a:latin typeface="Noto Sans"/>
              </a:rPr>
              <a:t>TOOL-CALL RESULTS · FULL GPU · MPS 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2A36"/>
                </a:solidFill>
                <a:latin typeface="Noto Sans"/>
              </a:rPr>
              <a:t>Full-GPU baseline keeps TTFT near 0.2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7A"/>
                </a:solidFill>
                <a:latin typeface="Noto Sans"/>
              </a:rPr>
              <a:t>MPS disabled · 114.9 tok/s aggregate decode · 568 ms to first cached audio · each cell shows P50 / P90 / Max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73936"/>
          <a:ext cx="10872216" cy="43708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05840"/>
                <a:gridCol w="1920240"/>
                <a:gridCol w="1920240"/>
                <a:gridCol w="1463040"/>
                <a:gridCol w="1920240"/>
                <a:gridCol w="2642616"/>
              </a:tblGrid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Audio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length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Audio → 1st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1st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SLM TPS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Audio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Audio → 1st audio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1.39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193 / 194 / 194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217 / 217 / 217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124.7 / 124.7 / 124.8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410 / 410 / 410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443 / 443 / 444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2.00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235 / 235 / 236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191 / 191 / 191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146.6 / 146.6 / 146.7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426 / 426 / 427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460 / 460 / 460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3.00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193 / 194 / 194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204 / 204 / 205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137.3 / 137.4 / 137.4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397 / 398 / 398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431 / 431 / 431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4.00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201 / 202 / 202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294 / 294 / 294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119.2 / 119.3 / 119.3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495 / 495 / 495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528 / 529 / 529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5.00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204 / 204 / 204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371 / 371 / 371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110.6 / 110.6 / 110.7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574 / 575 / 575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608 / 609 / 610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6.00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206 / 207 / 208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371 / 371 / 372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110.5 / 110.5 / 110.5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578 / 578 / 579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612 / 613 / 613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6.75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211 / 212 / 212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537 / 538 / 538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96.8 / 96.8 / 96.8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748 / 749 / 750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782 / 783 / 784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7.44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183 / 184 / 184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564 / 564 / 564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95.8 / 95.9 / 95.9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747 / 748 / 748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781 / 782 / 782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9224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7A"/>
                </a:solidFill>
                <a:latin typeface="Noto Sans"/>
              </a:rPr>
              <a:t>Statistics: P50 / P90 / Max · 8 runs per audio · TPS excludes TTFT · VAD and last audio excluded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4747A"/>
                </a:solidFill>
                <a:latin typeface="Noto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998F"/>
                </a:solidFill>
                <a:latin typeface="Noto Sans"/>
              </a:rPr>
              <a:t>TOOL-CALL RESULTS · 70% MPS 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2A36"/>
                </a:solidFill>
                <a:latin typeface="Noto Sans"/>
              </a:rPr>
              <a:t>70% MPS closely tracks full-thread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7A"/>
                </a:solidFill>
                <a:latin typeface="Noto Sans"/>
              </a:rPr>
              <a:t>108.6 tok/s aggregate decode · only +28 ms to first audio vs 100% · each cell shows P50 / P90 / Max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73936"/>
          <a:ext cx="10872216" cy="43708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05840"/>
                <a:gridCol w="1920240"/>
                <a:gridCol w="1920240"/>
                <a:gridCol w="1463040"/>
                <a:gridCol w="1920240"/>
                <a:gridCol w="2642616"/>
              </a:tblGrid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Audio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length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Audio → 1st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1st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SLM TPS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Audio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Audio → 1st audio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1.39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198 / 199 / 199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229 / 229 / 229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117.9 / 118.0 / 118.0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427 / 428 / 428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462 / 463 / 463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2.00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242 / 243 / 243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202 / 203 / 203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138.5 / 138.5 / 138.5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444 / 445 / 445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480 / 480 / 480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3.00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202 / 202 / 203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216 / 216 / 216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129.7 / 129.8 / 129.8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418 / 418 / 419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452 / 453 / 453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4.00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208 / 209 / 210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310 / 311 / 311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112.7 / 112.8 / 113.0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519 / 519 / 520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553 / 554 / 555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5.00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210 / 211 / 211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392 / 393 / 393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104.6 / 104.6 / 104.6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602 / 603 / 603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637 / 638 / 638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6.00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214 / 214 / 214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392 / 392 / 393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104.5 / 104.5 / 104.6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606 / 607 / 607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641 / 642 / 642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6.75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224 / 224 / 225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569 / 569 / 569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91.4 / 91.5 / 91.5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793 / 793 / 794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828 / 828 / 828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7.44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189 / 189 / 189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596 / 596 / 596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90.6 / 90.6 / 90.6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785 / 785 / 786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820 / 820 / 821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9224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7A"/>
                </a:solidFill>
                <a:latin typeface="Noto Sans"/>
              </a:rPr>
              <a:t>Statistics: P50 / P90 / Max · 8 runs per audio · TPS excludes TTFT · VAD and last audio excluded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4747A"/>
                </a:solidFill>
                <a:latin typeface="Noto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998F"/>
                </a:solidFill>
                <a:latin typeface="Noto Sans"/>
              </a:rPr>
              <a:t>TOOL-CALL RESULTS · 50% MPS 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2A36"/>
                </a:solidFill>
                <a:latin typeface="Noto Sans"/>
              </a:rPr>
              <a:t>50% MPS remains interactive at 101.5 tok/s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7A"/>
                </a:solidFill>
                <a:latin typeface="Noto Sans"/>
              </a:rPr>
              <a:t>632 ms from VAD-ready audio to first cached audio · +64 ms vs 100% · each cell shows P50 / P90 / Max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73936"/>
          <a:ext cx="10872216" cy="43708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05840"/>
                <a:gridCol w="1920240"/>
                <a:gridCol w="1920240"/>
                <a:gridCol w="1463040"/>
                <a:gridCol w="1920240"/>
                <a:gridCol w="2642616"/>
              </a:tblGrid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Audio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length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Audio → 1st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1st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SLM TPS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Audio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Audio → 1st audio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1.39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206 / 207 / 207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245 / 245 / 245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110.1 / 110.2 / 110.2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451 / 452 / 452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487 / 488 / 488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2.00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254 / 254 / 254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217 / 217 / 217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129.3 / 129.4 / 129.4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470 / 471 / 471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507 / 508 / 508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3.00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211 / 212 / 213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231 / 231 / 232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121.2 / 121.4 / 121.5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443 / 443 / 443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479 / 480 / 480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4.00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218 / 219 / 219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332 / 332 / 332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105.4 / 105.4 / 105.5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550 / 551 / 551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587 / 587 / 587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5.00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220 / 221 / 221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420 / 420 / 420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97.7 / 97.7 / 97.7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640 / 640 / 640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677 / 678 / 678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6.00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224 / 224 / 224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421 / 421 / 421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97.5 / 97.5 / 97.5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644 / 645 / 645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682 / 682 / 683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6.75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234 / 234 / 234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608 / 608 / 608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85.5 / 85.5 / 85.5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842 / 842 / 843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879 / 879 / 880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7.44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197 / 199 / 200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639 / 639 / 639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84.5 / 84.6 / 84.7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836 / 837 / 837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873 / 874 / 875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9224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7A"/>
                </a:solidFill>
                <a:latin typeface="Noto Sans"/>
              </a:rPr>
              <a:t>Statistics: P50 / P90 / Max · 8 runs per audio · TPS excludes TTFT · VAD and last audio excluded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4747A"/>
                </a:solidFill>
                <a:latin typeface="Noto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998F"/>
                </a:solidFill>
                <a:latin typeface="Noto Sans"/>
              </a:rPr>
              <a:t>TOOL-CALL RESULTS · 30% MPS 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2A36"/>
                </a:solidFill>
                <a:latin typeface="Noto Sans"/>
              </a:rPr>
              <a:t>30% MPS slows long structured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7A"/>
                </a:solidFill>
                <a:latin typeface="Noto Sans"/>
              </a:rPr>
              <a:t>54.8 tok/s aggregate decode · longest calls need about 1.49 s to finish · each cell shows P50 / P90 / Max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73936"/>
          <a:ext cx="10872216" cy="43708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05840"/>
                <a:gridCol w="1920240"/>
                <a:gridCol w="1920240"/>
                <a:gridCol w="1463040"/>
                <a:gridCol w="1920240"/>
                <a:gridCol w="2642616"/>
              </a:tblGrid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Audio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length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Audio → 1st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1st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SLM TPS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Audio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Audio → 1st audio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1.39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322 / 323 / 323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454 / 455 / 455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59.4 / 59.5 / 59.5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777 / 778 / 778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838 / 838 / 839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2.00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408 / 409 / 409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401 / 401 / 401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69.9 / 69.9 / 69.9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809 / 809 / 809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870 / 871 / 871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3.00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348 / 348 / 349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428 / 429 / 429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65.4 / 65.4 / 65.4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776 / 777 / 777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837 / 838 / 838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4.00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357 / 358 / 358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615 / 616 / 616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56.9 / 56.9 / 56.9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973 / 973 / 974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1,034 / 1,035 / 1,035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5.00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359 / 360 / 360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777 / 777 / 777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52.8 / 52.8 / 52.8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1,136 / 1,137 / 1,138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1,198 / 1,198 / 1,198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6.00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363 / 364 / 364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777 / 777 / 778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52.8 / 52.8 / 52.8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1,140 / 1,141 / 1,141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1,202 / 1,203 / 1,203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6.75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364 / 365 / 365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1,124 / 1,124 / 1,124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46.3 / 46.3 / 46.3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1,487 / 1,488 / 1,489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1,549 / 1,549 / 1,550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485648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02A36"/>
                          </a:solidFill>
                          <a:latin typeface="Noto Sans"/>
                        </a:rPr>
                        <a:t>7.44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311 / 312 / 313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1,179 / 1,179 / 1,179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45.8 / 45.8 / 45.8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1,490 / 1,491 / 1,491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102A36"/>
                          </a:solidFill>
                          <a:latin typeface="Noto Sans"/>
                        </a:rPr>
                        <a:t>1,551 / 1,552 / 1,553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9224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7A"/>
                </a:solidFill>
                <a:latin typeface="Noto Sans"/>
              </a:rPr>
              <a:t>Statistics: P50 / P90 / Max · 8 runs per audio · TPS excludes TTFT · VAD and last audio excluded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4747A"/>
                </a:solidFill>
                <a:latin typeface="Noto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998F"/>
                </a:solidFill>
                <a:latin typeface="Noto Sans"/>
              </a:rPr>
              <a:t>NON-TOOL SUMMARY · ALL AVAILABLE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2A36"/>
                </a:solidFill>
                <a:latin typeface="Noto Sans"/>
              </a:rPr>
              <a:t>Cloud and TTS dominate the non-tool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7A"/>
                </a:solidFill>
                <a:latin typeface="Noto Sans"/>
              </a:rPr>
              <a:t>Runs: full GPU=30 · MPS70=30 · MPS50=18 · MPS30=10 · every cell is P50 / P90 / Max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993392"/>
          <a:ext cx="10872216" cy="312724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1463040"/>
                <a:gridCol w="1463040"/>
                <a:gridCol w="1188720"/>
                <a:gridCol w="1463040"/>
                <a:gridCol w="1828800"/>
                <a:gridCol w="2551176"/>
              </a:tblGrid>
              <a:tr h="625449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GPU scheduling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condition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1st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1st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SLM TPS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cloud*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1st audio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25449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102A36"/>
                          </a:solidFill>
                          <a:latin typeface="Noto Sans"/>
                        </a:rPr>
                        <a:t>Full GPU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102A36"/>
                          </a:solidFill>
                          <a:latin typeface="Noto Sans"/>
                        </a:rPr>
                        <a:t>MPS off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200 / 212 / 215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462 / 615 / 617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99.5 / 134.9 / 135.2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667 / 827 / 830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2,941 / 3,601 / 4,733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5,242 / 5,975 / 7,096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25449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102A36"/>
                          </a:solidFill>
                          <a:latin typeface="Noto Sans"/>
                        </a:rPr>
                        <a:t>MPS 70%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219 / 227 / 228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487 / 651 / 651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94.4 / 127.2 / 127.4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707 / 878 / 880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3,392 / 3,963 / 4,059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5,724 / 6,263 / 6,545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25449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102A36"/>
                          </a:solidFill>
                          <a:latin typeface="Noto Sans"/>
                        </a:rPr>
                        <a:t>MPS 50%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202 / 235 / 237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518 / 692 / 692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88.8 / 119.6 / 119.6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711 / 898 / 928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2,998 / 3,711 / 3,963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5,278 / 6,066 / 6,390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25449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102A36"/>
                          </a:solidFill>
                          <a:latin typeface="Noto Sans"/>
                        </a:rPr>
                        <a:t>MPS 30%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360 / 370 / 370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966 / 1,288 / 1,288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47.6 / 64.1 / 64.1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1,326 / 1,659 / 1,659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3,637 / 4,066 / 4,368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02A36"/>
                          </a:solidFill>
                          <a:latin typeface="Noto Sans"/>
                        </a:rPr>
                        <a:t>6,019 / 6,413 / 6,616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394960"/>
            <a:ext cx="105156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20" b="1">
                <a:solidFill>
                  <a:srgbClr val="087970"/>
                </a:solidFill>
                <a:latin typeface="Noto Sans"/>
              </a:rPr>
              <a:t>On the full-GPU baseline (MPS off), SLM routing completes at 667 ms P50; dynamic cloud speech starts at 5.24 s P50.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9224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7A"/>
                </a:solidFill>
                <a:latin typeface="Noto Sans"/>
              </a:rPr>
              <a:t>*Gemini response completion · unequal repetitions by condition · external cloud/network/TTS latency · VAD/last audio excluded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4747A"/>
                </a:solidFill>
                <a:latin typeface="Noto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998F"/>
                </a:solidFill>
                <a:latin typeface="Noto Sans"/>
              </a:rPr>
              <a:t>NON-TOOL RESULTS · FULL GPU · MPS 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2A36"/>
                </a:solidFill>
                <a:latin typeface="Noto Sans"/>
              </a:rPr>
              <a:t>Cloud + TTS dominate the full-GPU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7A"/>
                </a:solidFill>
                <a:latin typeface="Noto Sans"/>
              </a:rPr>
              <a:t>MPS disabled · 99.5 tok/s SLM decode · Gemini 2.13 s median · 6 uncached runs per audio length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847088"/>
          <a:ext cx="10872216" cy="3794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1600200"/>
                <a:gridCol w="1600200"/>
                <a:gridCol w="1234440"/>
                <a:gridCol w="1600200"/>
                <a:gridCol w="1828800"/>
                <a:gridCol w="2093976"/>
              </a:tblGrid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length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1st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1st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SLM TPS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cloud*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1st audio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1.0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192 / 197 / 200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178 / 180 / 181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134.9 / 135.2 / 135.2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371 / 376 / 381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2,123 / 2,174 / 2,191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4,151 / 4,422 / 4,534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3.0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198 / 200 / 200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319 / 321 / 321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109.9 / 109.9 / 110.0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518 / 518 / 518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2,942 / 3,326 / 3,464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5,035 / 5,479 / 5,663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5.0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205 / 209 / 209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462 / 467 / 473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99.5 / 99.9 / 100.1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667 / 670 / 671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3,285 / 3,615 / 3,752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5,473 / 5,978 / 6,219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7.0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210 / 210 / 210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577 / 579 / 579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95.2 / 95.5 / 95.5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787 / 789 / 789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3,197 / 4,401 / 4,733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5,631 / 6,782 / 7,096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7.5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212 / 214 / 215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615 / 617 / 617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94.2 / 94.4 / 94.4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827 / 829 / 830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2,973 / 3,538 / 3,584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5,260 / 5,932 / 5,948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" y="5797296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087970"/>
                </a:solidFill>
                <a:latin typeface="Noto Sans"/>
              </a:rPr>
              <a:t>Cloud / network / laptop TTS are external; compare SLM TTFT, generation, and TPS across local scheduling conditions—not cloud totals.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9224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7A"/>
                </a:solidFill>
                <a:latin typeface="Noto Sans"/>
              </a:rPr>
              <a:t>Statistics: P50 / P90 / Max · *Gemini cloud completion, not observed last-token time · VAD/last audio excluded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4747A"/>
                </a:solidFill>
                <a:latin typeface="Noto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998F"/>
                </a:solidFill>
                <a:latin typeface="Noto Sans"/>
              </a:rPr>
              <a:t>NON-TOOL RESULTS · 70% MPS 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2A36"/>
                </a:solidFill>
                <a:latin typeface="Noto Sans"/>
              </a:rPr>
              <a:t>70% MPS keeps local routing 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7A"/>
                </a:solidFill>
                <a:latin typeface="Noto Sans"/>
              </a:rPr>
              <a:t>94.4 tok/s SLM decode · external Gemini, Wi-Fi, and TTS remain variable · 6 uncached runs per audio length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847088"/>
          <a:ext cx="10872216" cy="3794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1600200"/>
                <a:gridCol w="1600200"/>
                <a:gridCol w="1234440"/>
                <a:gridCol w="1600200"/>
                <a:gridCol w="1828800"/>
                <a:gridCol w="2093976"/>
              </a:tblGrid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length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1st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1st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SLM TPS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cloud*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1st audio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1.0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199 / 200 / 200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189 / 189 / 189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127.2 / 127.3 / 127.4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388 / 388 / 389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2,255 / 2,751 / 3,102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4,453 / 4,890 / 5,025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3.0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205 / 205 / 206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338 / 338 / 338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103.6 / 103.7 / 103.7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543 / 543 / 543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3,426 / 3,834 / 3,874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5,724 / 5,941 / 6,074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5.0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220 / 220 / 220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487 / 487 / 488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94.4 / 94.4 / 94.4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707 / 707 / 708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3,733 / 3,973 / 3,976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6,055 / 6,289 / 6,320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7.0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226 / 226 / 227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610 / 610 / 610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90.1 / 90.1 / 90.1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836 / 836 / 837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3,639 / 4,010 / 4,059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6,019 / 6,513 / 6,545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7.5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227 / 228 / 228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651 / 651 / 651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89.1 / 89.1 / 89.1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878 / 879 / 880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3,264 / 3,565 / 3,654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5,725 / 6,014 / 6,078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" y="5797296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087970"/>
                </a:solidFill>
                <a:latin typeface="Noto Sans"/>
              </a:rPr>
              <a:t>Cloud / network / laptop TTS are external; compare SLM TTFT, generation, and TPS across local scheduling conditions—not cloud totals.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9224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7A"/>
                </a:solidFill>
                <a:latin typeface="Noto Sans"/>
              </a:rPr>
              <a:t>Statistics: P50 / P90 / Max · *Gemini cloud completion, not observed last-token time · VAD/last audio excluded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4747A"/>
                </a:solidFill>
                <a:latin typeface="Noto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998F"/>
                </a:solidFill>
                <a:latin typeface="Noto Sans"/>
              </a:rPr>
              <a:t>NON-TOOL RESULTS · 50% MPS 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2A36"/>
                </a:solidFill>
                <a:latin typeface="Noto Sans"/>
              </a:rPr>
              <a:t>50% MPS preserves local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7A"/>
                </a:solidFill>
                <a:latin typeface="Noto Sans"/>
              </a:rPr>
              <a:t>88.8 tok/s SLM decode · post-VAD TTFT remains about 0.19–0.21 s · runs by length: 4 / 4 / 3 / 3 /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847088"/>
          <a:ext cx="10872216" cy="3794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1600200"/>
                <a:gridCol w="1600200"/>
                <a:gridCol w="1234440"/>
                <a:gridCol w="1600200"/>
                <a:gridCol w="1828800"/>
                <a:gridCol w="2093976"/>
              </a:tblGrid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length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1st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1st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SLM TPS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cloud*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1st audio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1.0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196 / 207 / 208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201 / 201 / 201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119.6 / 119.6 / 119.6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396 / 408 / 408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2,220 / 2,285 / 2,303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4,194 / 4,431 / 4,503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3.0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214 / 214 / 214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359 / 359 / 359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97.5 / 97.5 / 97.5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573 / 573 / 574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3,128 / 3,528 / 3,678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5,257 / 5,732 / 5,889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5.0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194 / 223 / 230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518 / 518 / 518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88.8 / 88.8 / 88.8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711 / 741 / 748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3,560 / 3,882 / 3,963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5,960 / 6,304 / 6,390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7.0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197 / 228 / 235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649 / 649 / 649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84.8 / 84.8 / 84.8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846 / 876 / 884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3,292 / 3,688 / 3,787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6,014 / 6,154 / 6,189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7.5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215 / 236 / 237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692 / 692 / 692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83.8 / 83.9 / 83.9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906 / 928 / 928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3,009 / 3,148 / 3,163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5,412 / 5,585 / 5,615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" y="5797296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087970"/>
                </a:solidFill>
                <a:latin typeface="Noto Sans"/>
              </a:rPr>
              <a:t>Cloud / network / laptop TTS are external; compare SLM TTFT, generation, and TPS across local scheduling conditions—not cloud totals.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9224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7A"/>
                </a:solidFill>
                <a:latin typeface="Noto Sans"/>
              </a:rPr>
              <a:t>Statistics: P50 / P90 / Max · *Gemini cloud completion, not observed last-token time · VAD/last audio excluded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4747A"/>
                </a:solidFill>
                <a:latin typeface="Noto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998F"/>
                </a:solidFill>
                <a:latin typeface="Noto Sans"/>
              </a:rPr>
              <a:t>NON-TOOL RESULTS · 30% MPS 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2A36"/>
                </a:solidFill>
                <a:latin typeface="Noto Sans"/>
              </a:rPr>
              <a:t>30% MPS slows SLM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7A"/>
                </a:solidFill>
                <a:latin typeface="Noto Sans"/>
              </a:rPr>
              <a:t>local SLM decode falls to 45–64 tok/s by audio length · 2 uncached runs per audio length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847088"/>
          <a:ext cx="10872216" cy="3794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1600200"/>
                <a:gridCol w="1600200"/>
                <a:gridCol w="1234440"/>
                <a:gridCol w="1600200"/>
                <a:gridCol w="1828800"/>
                <a:gridCol w="2093976"/>
              </a:tblGrid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length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1st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1st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SLM TPS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last SLM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cloud*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Audio → 1st audio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Noto Sans"/>
                        </a:rPr>
                        <a:t>P50 / P90 / Max</a:t>
                      </a:r>
                    </a:p>
                  </a:txBody>
                  <a:tcPr marL="73152" marR="73152" marT="45720" marB="45720">
                    <a:solidFill>
                      <a:srgbClr val="102A36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1.0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324 / 325 / 325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374 / 374 / 375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64.1 / 64.1 / 64.1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699 / 699 / 700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2,714 / 2,749 / 2,758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4,905 / 4,922 / 4,926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3.0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333 / 334 / 334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670 / 670 / 670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52.3 / 52.3 / 52.3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1,003 / 1,003 / 1,003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3,645 / 3,764 / 3,794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5,776 / 5,907 / 5,940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5.0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360 / 361 / 361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966 / 966 / 966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47.6 / 47.6 / 47.7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1,326 / 1,326 / 1,326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3,670 / 3,777 / 3,804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6,123 / 6,145 / 6,150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7.0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366 / 366 / 366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1,205 / 1,205 / 1,205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45.7 / 45.7 / 45.7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1,571 / 1,571 / 1,571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4,053 / 4,305 / 4,368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6,370 / 6,567 / 6,616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02A36"/>
                          </a:solidFill>
                          <a:latin typeface="Noto Sans"/>
                        </a:rPr>
                        <a:t>7.5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370 / 370 / 370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1,288 / 1,288 / 1,288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45.0 / 45.0 / 45.0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1,659 / 1,659 / 1,659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3,772 / 3,980 / 4,032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02A36"/>
                          </a:solidFill>
                          <a:latin typeface="Noto Sans"/>
                        </a:rPr>
                        <a:t>6,131 / 6,338 / 6,390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  <a:lnL w="9500" cap="flat" cmpd="sng" algn="ctr">
                      <a:solidFill>
                        <a:srgbClr val="D7E1DF"/>
                      </a:solidFill>
                      <a:prstDash val="solid"/>
                    </a:lnL>
                    <a:lnR w="9500" cap="flat" cmpd="sng" algn="ctr">
                      <a:solidFill>
                        <a:srgbClr val="D7E1DF"/>
                      </a:solidFill>
                      <a:prstDash val="solid"/>
                    </a:lnR>
                    <a:lnT w="9500" cap="flat" cmpd="sng" algn="ctr">
                      <a:solidFill>
                        <a:srgbClr val="D7E1DF"/>
                      </a:solidFill>
                      <a:prstDash val="solid"/>
                    </a:lnT>
                    <a:lnB w="9500" cap="flat" cmpd="sng" algn="ctr">
                      <a:solidFill>
                        <a:srgbClr val="D7E1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" y="5797296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087970"/>
                </a:solidFill>
                <a:latin typeface="Noto Sans"/>
              </a:rPr>
              <a:t>Cloud / network / laptop TTS are external; compare SLM TTFT, generation, and TPS across local scheduling conditions—not cloud totals.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9224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7A"/>
                </a:solidFill>
                <a:latin typeface="Noto Sans"/>
              </a:rPr>
              <a:t>Statistics: P50 / P90 / Max · *Gemini cloud completion, not observed last-token time · VAD/last audio excluded · P90 low-confidence (n=2)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4747A"/>
                </a:solidFill>
                <a:latin typeface="Noto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998F"/>
                </a:solidFill>
                <a:latin typeface="Noto Sans"/>
              </a:rPr>
              <a:t>DEPLOYMENT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2A36"/>
                </a:solidFill>
                <a:latin typeface="Noto Sans"/>
              </a:rPr>
              <a:t>Edge SLM is an option—not a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7A"/>
                </a:solidFill>
                <a:latin typeface="Noto Sans"/>
              </a:rPr>
              <a:t>Choose placement from product constraints, not from architecture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084831"/>
            <a:ext cx="3410712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249424"/>
            <a:ext cx="91440" cy="1773936"/>
          </a:xfrm>
          <a:prstGeom prst="roundRect">
            <a:avLst/>
          </a:prstGeom>
          <a:solidFill>
            <a:srgbClr val="00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267712"/>
            <a:ext cx="2898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2A36"/>
                </a:solidFill>
                <a:latin typeface="Noto Sans"/>
              </a:rPr>
              <a:t>Cloud-first is viable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606039"/>
            <a:ext cx="2898648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7A"/>
                </a:solidFill>
                <a:latin typeface="Noto Sans"/>
              </a:rPr>
              <a:t>The complete voice pipeline—including the SLM—can run in the cloud. This is the simplest path to deploy and update.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84831"/>
            <a:ext cx="3410712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3712" y="2249424"/>
            <a:ext cx="91440" cy="1773936"/>
          </a:xfrm>
          <a:prstGeom prst="roundRect">
            <a:avLst/>
          </a:prstGeom>
          <a:solidFill>
            <a:srgbClr val="087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267712"/>
            <a:ext cx="2898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2A36"/>
                </a:solidFill>
                <a:latin typeface="Noto Sans"/>
              </a:rPr>
              <a:t>Edge SLM buys locality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06039"/>
            <a:ext cx="2898648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7A"/>
                </a:solidFill>
                <a:latin typeface="Noto Sans"/>
              </a:rPr>
              <a:t>Local parsing can support low-latency tool calls, offline operation and tighter control of speech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2084831"/>
            <a:ext cx="3410712" cy="2103120"/>
          </a:xfrm>
          <a:prstGeom prst="roundRect">
            <a:avLst/>
          </a:prstGeom>
          <a:solidFill>
            <a:srgbClr val="FDE8DC"/>
          </a:solidFill>
          <a:ln w="15240">
            <a:solidFill>
              <a:srgbClr val="D7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93023" y="2249424"/>
            <a:ext cx="91440" cy="1773936"/>
          </a:xfrm>
          <a:prstGeom prst="roundRect">
            <a:avLst/>
          </a:prstGeom>
          <a:solidFill>
            <a:srgbClr val="F3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2267712"/>
            <a:ext cx="2898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2A36"/>
                </a:solidFill>
                <a:latin typeface="Noto Sans"/>
              </a:rPr>
              <a:t>Edge costs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606039"/>
            <a:ext cx="2898648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7A"/>
                </a:solidFill>
                <a:latin typeface="Noto Sans"/>
              </a:rPr>
              <a:t>Jetson adds model/runtime compatibility, memory and MPS tuning, monitoring, thermal validation and fleet updates.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828032"/>
            <a:ext cx="1022299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87970"/>
                </a:solidFill>
                <a:latin typeface="Noto Sans"/>
              </a:rPr>
              <a:t>Default to cloud; move the SLM to edge only when latency, connectivity, privacy or autonomy justify the extra deployment effort.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9224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7A"/>
                </a:solidFill>
                <a:latin typeface="Noto Sans"/>
              </a:rPr>
              <a:t>Architectural takeaway from the measured Jetson deployment; placement remains a product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4747A"/>
                </a:solidFill>
                <a:latin typeface="Noto San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Jetson Voice-Agent Benchmark Results</dc:title>
  <dc:subject/>
  <dc:creator>Speech-to-Action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